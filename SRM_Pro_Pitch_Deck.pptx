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annuel (DH)</c:v>
                </c:pt>
              </c:strCache>
            </c:strRef>
          </c:tx>
          <c:spPr>
            <a:solidFill>
              <a:srgbClr val="3741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741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Covadis + AutoCAD</c:v>
                  </c:pt>
                  <c:pt idx="1">
                    <c:v>SRM Pro Équipe</c:v>
                  </c:pt>
                  <c:pt idx="2">
                    <c:v>SRM Pro Pro</c:v>
                  </c:pt>
                  <c:pt idx="3">
                    <c:v>SRM Pro Starter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45000</c:v>
                </c:pt>
                <c:pt idx="1">
                  <c:v>9600</c:v>
                </c:pt>
                <c:pt idx="2">
                  <c:v>4800</c:v>
                </c:pt>
                <c:pt idx="3">
                  <c:v>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Présentez SRM Pro comme la solution marocaine moderne pour les ingénieurs topographes et génie civil.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coût des licences Covadis/AutoCAD. Le marché marocain est sous-équipé car le prix est prohibitif pour 80% des bureaux d'études.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le dashboard de l'application en live. Insistez sur l'accessibilité depuis n'importe quel navigateur — même tablette sur le terrain.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Passez rapidement sur chaque module. Proposez de faire une démo live du canvas CAD et des alignements — c'est ce qui impressionne le plus les ingénieurs.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Ouvrez l'application et montrez le dashboard avec les 5 projets. Cliquez sur le projet RN9 pour montrer les points topo et alignements.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coût : 45 000 DH/an pour Covadis vs 1 800 DH/an pour le plan Starter de SRM Pro. ROI immédiat pour tout bureau d'études indépendant.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tableau est très efficace en présentation. Laissez le client lire. Soulignez la colonne SRM Pro — en particulier le prix et l'accès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Pro à 400 DH/mois est votre argument principal. Comparez immédiatement : 400 DH/mois vs ~1 700 DH/mois pour Covadis. Le client économise 1 300 DH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que le produit évolue activement. La vision 2027 avec l'intégration drone est un argument fort pour les gros bureaux d'études.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Terminez en demandant : 'Quel module vous intéresse le plus pour votre activité ?' Proposez immédiatement de créer leur premier projet en direct si le client est prêt.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5029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 Pro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&amp; Road Management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professionnelle de topographie,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de terrain et conception routière.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Covadis-compatible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93192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E2D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LandXML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393192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E2D3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DXF/DWG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393192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E2D3D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intégrée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défis des ingénieurs aujourd'hui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600200"/>
            <a:ext cx="502920" cy="50292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Logiciels coûteux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1671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AutoCAD Civil 3D &amp; Covadis dépassent 25 000 DH/an par licence. Inaccessible pour les PME et bureaux d'études indépendants.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01768" y="1600200"/>
            <a:ext cx="502920" cy="50292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23560" y="1600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mobilité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21671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 desktop exigent un PC puissant sur site. Impossible de consulter les données sur le terrain ou en réunion client.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" y="3246120"/>
            <a:ext cx="502920" cy="50292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246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Silos de données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" y="38130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fichiers DWG, XLS, PDF sont éparpillés. Partage fastidieux entre les équipes, risques d'erreurs et de versions obsolètes.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01768" y="3246120"/>
            <a:ext cx="502920" cy="50292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23560" y="3246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Calculs manuels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38130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de terrassement, courbes de niveau, profils en long... calculés à la main dans Excel. Chronophage et source d'erreurs.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 Pro — Tout en un, dans votre navigateur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web complète, accessible depuis n'importe quel appareil, à une fraction du coût des solutions desktop traditionnelles.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29000" y="1737360"/>
            <a:ext cx="2286000" cy="228600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7373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28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Points topo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840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🏔️  Modèle terrain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3891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4389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  Alignements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840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Volumes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1828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Canvas CAD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82296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822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Assist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Covadis · Export LandXML, DXF, DWG, PDF · Accès web &amp; mobile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modules professionnels intégrés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27048"/>
            <a:ext cx="457200" cy="457200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527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topographiques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manuelle ou import CSV/XYZ. Codes et descriptions. Visualisation sur carte. Export vers tout logiciel de topo.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27048"/>
            <a:ext cx="457200" cy="45720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🏔️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527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Numérique Terrain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0756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Triangulation Delaunay automatique. Courbes de niveau paramétrables. Interpolation d'altitude en tout point.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527048"/>
            <a:ext cx="457200" cy="457200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🛣️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1527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routière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0756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Alignements horizontaux/verticaux. Droites, arcs, clothoïdes. Profils en travers. Calcul automatique des rayons min.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55848"/>
            <a:ext cx="457200" cy="45720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355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 de terrassement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9044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déblai/remblai par section. Rapport détaillé avec tableau récapitulatif. Export PDF pour appel d'offres.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1546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355848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23360" y="3355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CAD 2D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9044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 de dessin technique dans le navigateur. Calques, couleurs, styles de ligne. Export DXF compatible AutoCAD.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1546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355848"/>
            <a:ext cx="457200" cy="457200"/>
          </a:xfrm>
          <a:prstGeom prst="ellipse">
            <a:avLst/>
          </a:prstGeom>
          <a:solidFill>
            <a:srgbClr val="EC4899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3355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IA intégré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9044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Répond aux questions techniques en français. Guide l'utilisateur. Suggère des méthodes adaptées au projet.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PROJETS DE DÉMONSTRATION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projets réels en démonstration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créées spécialement pour cette présentation — projets marocains réalistes.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8321040" cy="694944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22C55E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RN9 — Déviation Béni Mellal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084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Route  ·  Direction Régionale des Routes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892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 topo · 3 alignements · Rapport volumes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8321040" cy="694944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79192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F97316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79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RÉVISION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91640" y="2587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Lotissement Al Wifaq — 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8895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Parcellaire  ·  Groupe Immobilier ADDOHA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bornes · Plan masse 45 lots · Calques VRD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300984"/>
            <a:ext cx="8321040" cy="694944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483864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83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3392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Barrage Moulay Hassan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6941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Terrain  ·  ONEE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3502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 bathymétrie · MNT complet · Berges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105656"/>
            <a:ext cx="8321040" cy="694944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288536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A855F7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88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91640" y="4197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Industrielle Tanger Med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4498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 ·  TMSA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VRD 12 ha · Voiries + réseaux · Calques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CLÉS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 Pro en chiffres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38528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55448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cher 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Covadis + AutoCAD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417320"/>
            <a:ext cx="1938528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06624" y="155448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5min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33472" y="21031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créer 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un projet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72584" y="1417320"/>
            <a:ext cx="1938528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37176" y="155448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64024" y="21031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— aucune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requise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417320"/>
            <a:ext cx="1938528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67728" y="155448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94576" y="21031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intégrés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une plateforme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11480" y="2788920"/>
          <a:ext cx="83210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COMPÉTITIFS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choisir SRM Pro ?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9202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SRM Pro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Covadis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AutoCAD Civil 3D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Prix annuel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</a:rPr>
                        <a:t>1 800 – 9 600 DH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~20 000 DH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~25 000 DH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Accès web/mobile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Sans installation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Assistant 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Intégré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Langue française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Partiel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Export DXF/LandXML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Support marocain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✓ Local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France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USA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Formation requise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</a:rPr>
                        <a:t>Faible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Élevée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Très élevée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adaptés à chaque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engagement · Paiement mensuel ou annuel (-20%) · Essai gratuit 30 jours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670048" cy="2743200"/>
          </a:xfrm>
          <a:prstGeom prst="roundRect">
            <a:avLst>
              <a:gd name="adj" fmla="val 479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116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DH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9443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 · 1 utilisateur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2121408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2918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projets max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3584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Points topo illimités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387705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Canvas CAD de 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41696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Export DXF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44622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Support 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828800"/>
            <a:ext cx="2670048" cy="2743200"/>
          </a:xfrm>
          <a:prstGeom prst="roundRect">
            <a:avLst>
              <a:gd name="adj" fmla="val 4795"/>
            </a:avLst>
          </a:prstGeom>
          <a:solidFill>
            <a:srgbClr val="1E2D3D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86784" y="1664208"/>
            <a:ext cx="1280160" cy="292608"/>
          </a:xfrm>
          <a:prstGeom prst="roundRect">
            <a:avLst>
              <a:gd name="adj" fmla="val 3125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3986784" y="1664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RECOMMANDÉ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0" y="20116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37744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DH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74720" y="29443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 · jusqu'à 3 utilisateurs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246120"/>
            <a:ext cx="2121408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32918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Projets illimités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93008" y="3584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MNT &amp; courbes de niveau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387705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Alignements &amp; volumes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3008" y="41696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Export LandXML + DXF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93008" y="44622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Assistant IA inclus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4754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Support prioritaire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828800"/>
            <a:ext cx="2670048" cy="2743200"/>
          </a:xfrm>
          <a:prstGeom prst="roundRect">
            <a:avLst>
              <a:gd name="adj" fmla="val 479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20116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237744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DH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355080" y="29443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 · utilisateurs illimités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3246120"/>
            <a:ext cx="2121408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2918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Tout le plan Pro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73368" y="3584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utilisateurs inclus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73368" y="387705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Gestion des rôles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73368" y="416966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d'accès aux données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73368" y="44622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Formation incluse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73368" y="4754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Support dédié 24h/7j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 entreprise &amp; collectivités publiques sur devis  ·  contact@srm-pro.ma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PRODUIT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arrive prochainement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F9731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1938528" cy="292608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57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Import fichiers GPS (.gpx, .obs)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Canevas topographique automatique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Correction atmosphérique intégrée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1920240"/>
            <a:ext cx="1938528" cy="292608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79192" y="2057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Visualisation 3D du MNT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9192" y="288036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Profil en long interactif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9192" y="3703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Module assainissement (réseaux)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72584" y="132588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22C55E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72584" y="1920240"/>
            <a:ext cx="1938528" cy="2926080"/>
          </a:xfrm>
          <a:prstGeom prst="roundRect">
            <a:avLst>
              <a:gd name="adj" fmla="val 4717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9744" y="2057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mobile iOS &amp; Android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88036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Sync temps réel multi-utilisateurs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9744" y="3703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Génération automatique des métrés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132588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A855F7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03136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1920240"/>
            <a:ext cx="1938528" cy="2926080"/>
          </a:xfrm>
          <a:prstGeom prst="roundRect">
            <a:avLst>
              <a:gd name="adj" fmla="val 4717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0296" y="2057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Intégration drone (traitement nuage de points)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0296" y="288036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IA prédiction des volumes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3703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Marketplace de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Commençons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Essai gratuit 30 jours · Aucune carte bancaire requise · Configuration en 5 minutes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423160" cy="1371600"/>
          </a:xfrm>
          <a:prstGeom prst="roundRect">
            <a:avLst>
              <a:gd name="adj" fmla="val 9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547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Essai gratuit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srm-pro.ma/essai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3017520"/>
            <a:ext cx="2423160" cy="1371600"/>
          </a:xfrm>
          <a:prstGeom prst="roundRect">
            <a:avLst>
              <a:gd name="adj" fmla="val 9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547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commercial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contact@srm-pro.ma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2423160" cy="1371600"/>
          </a:xfrm>
          <a:prstGeom prst="roundRect">
            <a:avLst>
              <a:gd name="adj" fmla="val 9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3547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personnalisée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+212 6 00 00 00 00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SRM Pro v2.0  ·  Covadis-compatible  ·  Made in Morocco  🇲🇦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 Pro — Pitch Deck</dc:title>
  <dc:subject>PptxGenJS Presentation</dc:subject>
  <dc:creator>SRM Pro</dc:creator>
  <cp:lastModifiedBy>SRM Pro</cp:lastModifiedBy>
  <cp:revision>1</cp:revision>
  <dcterms:created xsi:type="dcterms:W3CDTF">2026-06-28T19:37:11Z</dcterms:created>
  <dcterms:modified xsi:type="dcterms:W3CDTF">2026-06-28T19:37:11Z</dcterms:modified>
</cp:coreProperties>
</file>